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</p:sldIdLst>
  <p:sldSz cy="6721475" cx="11949100"/>
  <p:notesSz cx="7939075" cy="11423650"/>
  <p:embeddedFontLst>
    <p:embeddedFont>
      <p:font typeface="Assistant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17">
          <p15:clr>
            <a:srgbClr val="A4A3A4"/>
          </p15:clr>
        </p15:guide>
        <p15:guide id="2" pos="3763">
          <p15:clr>
            <a:srgbClr val="A4A3A4"/>
          </p15:clr>
        </p15:guide>
      </p15:sldGuideLst>
    </p:ext>
    <p:ext uri="{2D200454-40CA-4A62-9FC3-DE9A4176ACB9}">
      <p15:notesGuideLst>
        <p15:guide id="1" orient="horz" pos="3599">
          <p15:clr>
            <a:srgbClr val="A4A3A4"/>
          </p15:clr>
        </p15:guide>
        <p15:guide id="2" pos="25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17" orient="horz"/>
        <p:guide pos="3763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599" orient="horz"/>
        <p:guide pos="2501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Assistant-regular.fntdata"/><Relationship Id="rId8" Type="http://schemas.openxmlformats.org/officeDocument/2006/relationships/font" Target="fonts/Assistan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88925" y="614363"/>
            <a:ext cx="7418388" cy="41735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42901" y="6138383"/>
            <a:ext cx="6765419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052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052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▫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9024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24"/>
              <a:buFont typeface="Arial"/>
              <a:buChar char="-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2" type="sldNum"/>
          </p:nvPr>
        </p:nvSpPr>
        <p:spPr>
          <a:xfrm>
            <a:off x="7085002" y="10998418"/>
            <a:ext cx="629819" cy="2000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iw-IL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;n"/>
          <p:cNvSpPr txBox="1"/>
          <p:nvPr>
            <p:ph idx="11" type="ftr"/>
          </p:nvPr>
        </p:nvSpPr>
        <p:spPr>
          <a:xfrm>
            <a:off x="7714756" y="130618"/>
            <a:ext cx="65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42901" y="6138383"/>
            <a:ext cx="6765419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/>
          <p:nvPr>
            <p:ph idx="2" type="sldImg"/>
          </p:nvPr>
        </p:nvSpPr>
        <p:spPr>
          <a:xfrm>
            <a:off x="288925" y="614363"/>
            <a:ext cx="7418388" cy="41735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ean">
  <p:cSld name="Clean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23279" t="0"/>
          <a:stretch/>
        </p:blipFill>
        <p:spPr>
          <a:xfrm flipH="1">
            <a:off x="2780522" y="0"/>
            <a:ext cx="9163350" cy="672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title"/>
          </p:nvPr>
        </p:nvSpPr>
        <p:spPr>
          <a:xfrm>
            <a:off x="543685" y="663542"/>
            <a:ext cx="10861744" cy="400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1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0A4D8"/>
              </a:buClr>
              <a:buSzPts val="2800"/>
              <a:buFont typeface="Assistan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1943872" cy="672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/>
          <p:nvPr>
            <p:ph idx="1" type="body"/>
          </p:nvPr>
        </p:nvSpPr>
        <p:spPr>
          <a:xfrm>
            <a:off x="543685" y="2128468"/>
            <a:ext cx="1086174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30200" lvl="0" marL="457200" marR="0" rtl="1" algn="r">
              <a:lnSpc>
                <a:spcPct val="100000"/>
              </a:lnSpc>
              <a:spcBef>
                <a:spcPts val="29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Char char="​"/>
              <a:defRPr b="0" i="0" sz="16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30200" lvl="1" marL="914400" marR="0" rtl="1" algn="r">
              <a:lnSpc>
                <a:spcPct val="100000"/>
              </a:lnSpc>
              <a:spcBef>
                <a:spcPts val="29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•"/>
              <a:defRPr b="0" i="0" sz="16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30200" lvl="2" marL="1371600" marR="0" rtl="1" algn="r">
              <a:lnSpc>
                <a:spcPct val="100000"/>
              </a:lnSpc>
              <a:spcBef>
                <a:spcPts val="29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—"/>
              <a:defRPr b="0" i="0" sz="16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30200" lvl="3" marL="1828800" marR="0" rtl="1" algn="r">
              <a:lnSpc>
                <a:spcPct val="100000"/>
              </a:lnSpc>
              <a:spcBef>
                <a:spcPts val="29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«"/>
              <a:defRPr b="0" i="0" sz="16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30200" lvl="4" marL="2286000" marR="0" rtl="1" algn="r">
              <a:lnSpc>
                <a:spcPct val="100000"/>
              </a:lnSpc>
              <a:spcBef>
                <a:spcPts val="294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‹"/>
              <a:defRPr b="0" i="0" sz="16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28168" lvl="5" marL="2743200" marR="0" rtl="1" algn="r">
              <a:lnSpc>
                <a:spcPct val="100000"/>
              </a:lnSpc>
              <a:spcBef>
                <a:spcPts val="294"/>
              </a:spcBef>
              <a:spcAft>
                <a:spcPts val="0"/>
              </a:spcAft>
              <a:buClr>
                <a:schemeClr val="dk1"/>
              </a:buClr>
              <a:buSzPts val="1568"/>
              <a:buFont typeface="Arial"/>
              <a:buChar char="▫"/>
              <a:defRPr b="0" i="0" sz="156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8168" lvl="6" marL="3200400" marR="0" rtl="1" algn="r">
              <a:lnSpc>
                <a:spcPct val="100000"/>
              </a:lnSpc>
              <a:spcBef>
                <a:spcPts val="294"/>
              </a:spcBef>
              <a:spcAft>
                <a:spcPts val="0"/>
              </a:spcAft>
              <a:buClr>
                <a:schemeClr val="dk1"/>
              </a:buClr>
              <a:buSzPts val="1568"/>
              <a:buFont typeface="Arial"/>
              <a:buChar char="▫"/>
              <a:defRPr b="0" i="0" sz="156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8168" lvl="7" marL="3657600" marR="0" rtl="1" algn="r">
              <a:lnSpc>
                <a:spcPct val="100000"/>
              </a:lnSpc>
              <a:spcBef>
                <a:spcPts val="294"/>
              </a:spcBef>
              <a:spcAft>
                <a:spcPts val="0"/>
              </a:spcAft>
              <a:buClr>
                <a:schemeClr val="dk1"/>
              </a:buClr>
              <a:buSzPts val="1568"/>
              <a:buFont typeface="Arial"/>
              <a:buChar char="▫"/>
              <a:defRPr b="0" i="0" sz="156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8168" lvl="8" marL="4114800" marR="0" rtl="1" algn="r">
              <a:lnSpc>
                <a:spcPct val="100000"/>
              </a:lnSpc>
              <a:spcBef>
                <a:spcPts val="294"/>
              </a:spcBef>
              <a:spcAft>
                <a:spcPts val="294"/>
              </a:spcAft>
              <a:buClr>
                <a:schemeClr val="dk1"/>
              </a:buClr>
              <a:buSzPts val="1568"/>
              <a:buFont typeface="Arial"/>
              <a:buChar char="▫"/>
              <a:defRPr b="0" i="0" sz="156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2">
            <a:alphaModFix/>
          </a:blip>
          <a:srcRect b="82097" l="3842" r="65228" t="3989"/>
          <a:stretch/>
        </p:blipFill>
        <p:spPr>
          <a:xfrm>
            <a:off x="345622" y="292007"/>
            <a:ext cx="2659472" cy="67319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type="title"/>
          </p:nvPr>
        </p:nvSpPr>
        <p:spPr>
          <a:xfrm>
            <a:off x="543685" y="663505"/>
            <a:ext cx="10861744" cy="400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1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0A4D8"/>
              </a:buClr>
              <a:buSzPts val="2800"/>
              <a:buFont typeface="Assistant"/>
              <a:buNone/>
              <a:defRPr b="1" i="0" sz="2800" u="none" cap="none" strike="noStrike">
                <a:solidFill>
                  <a:srgbClr val="70A4D8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368">
          <p15:clr>
            <a:srgbClr val="5ACBF0"/>
          </p15:clr>
        </p15:guide>
        <p15:guide id="2" orient="horz" pos="3912">
          <p15:clr>
            <a:srgbClr val="5ACBF0"/>
          </p15:clr>
        </p15:guide>
        <p15:guide id="3" orient="horz" pos="1075">
          <p15:clr>
            <a:srgbClr val="F26B43"/>
          </p15:clr>
        </p15:guide>
        <p15:guide id="4" pos="7329">
          <p15:clr>
            <a:srgbClr val="F26B43"/>
          </p15:clr>
        </p15:guide>
        <p15:guide id="5" pos="345">
          <p15:clr>
            <a:srgbClr val="F26B43"/>
          </p15:clr>
        </p15:guide>
        <p15:guide id="6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youtube.com/channel/UCun_H7pXqZ3ChPFbaSlouZQ" TargetMode="External"/><Relationship Id="rId10" Type="http://schemas.openxmlformats.org/officeDocument/2006/relationships/image" Target="../media/image12.png"/><Relationship Id="rId13" Type="http://schemas.openxmlformats.org/officeDocument/2006/relationships/hyperlink" Target="https://hashkafa.macam.ac.il/wdwth-2/#contact" TargetMode="External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hashkafa.macam.ac.il/hhrshmh/" TargetMode="External"/><Relationship Id="rId4" Type="http://schemas.openxmlformats.org/officeDocument/2006/relationships/hyperlink" Target="https://youtu.be/60epPgzGLoI?si=2nBluPdrjySrMETi" TargetMode="External"/><Relationship Id="rId9" Type="http://schemas.openxmlformats.org/officeDocument/2006/relationships/image" Target="../media/image9.png"/><Relationship Id="rId15" Type="http://schemas.openxmlformats.org/officeDocument/2006/relationships/hyperlink" Target="https://hashkafa.macam.ac.il/hhrshmh/" TargetMode="External"/><Relationship Id="rId14" Type="http://schemas.openxmlformats.org/officeDocument/2006/relationships/image" Target="../media/image1.png"/><Relationship Id="rId17" Type="http://schemas.openxmlformats.org/officeDocument/2006/relationships/image" Target="../media/image5.png"/><Relationship Id="rId16" Type="http://schemas.openxmlformats.org/officeDocument/2006/relationships/image" Target="../media/image7.png"/><Relationship Id="rId5" Type="http://schemas.openxmlformats.org/officeDocument/2006/relationships/hyperlink" Target="https://mosdot.education.gov.il/institutes/budget/gefen/gefen/?csrt=6509938038025843156" TargetMode="External"/><Relationship Id="rId6" Type="http://schemas.openxmlformats.org/officeDocument/2006/relationships/image" Target="../media/image6.png"/><Relationship Id="rId18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/>
        </p:nvSpPr>
        <p:spPr>
          <a:xfrm>
            <a:off x="3930580" y="4617039"/>
            <a:ext cx="206825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Quattrocento Sans"/>
              <a:buChar char="​"/>
            </a:pPr>
            <a:r>
              <a:rPr b="0" i="0" lang="iw-IL" sz="12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* תחום דעת עברית: חינוך לשוני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9823075" y="4025618"/>
            <a:ext cx="17245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70A4D8"/>
                </a:solidFill>
                <a:latin typeface="Assistant"/>
                <a:ea typeface="Assistant"/>
                <a:cs typeface="Assistant"/>
                <a:sym typeface="Assistant"/>
              </a:rPr>
              <a:t>קהילות חוקרות פרקטיקה לשיפור ההוראה והלמידה.</a:t>
            </a:r>
            <a:endParaRPr b="0" i="0" sz="1200" u="none" cap="none" strike="noStrike">
              <a:solidFill>
                <a:srgbClr val="70A4D8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0790365" y="3129276"/>
            <a:ext cx="765510" cy="428625"/>
          </a:xfrm>
          <a:custGeom>
            <a:rect b="b" l="l" r="r" t="t"/>
            <a:pathLst>
              <a:path extrusionOk="0" h="428625" w="428625">
                <a:moveTo>
                  <a:pt x="428015" y="0"/>
                </a:moveTo>
                <a:lnTo>
                  <a:pt x="42799" y="0"/>
                </a:lnTo>
                <a:lnTo>
                  <a:pt x="26140" y="3363"/>
                </a:lnTo>
                <a:lnTo>
                  <a:pt x="12536" y="12536"/>
                </a:lnTo>
                <a:lnTo>
                  <a:pt x="3363" y="26140"/>
                </a:lnTo>
                <a:lnTo>
                  <a:pt x="0" y="42799"/>
                </a:lnTo>
                <a:lnTo>
                  <a:pt x="0" y="385216"/>
                </a:lnTo>
                <a:lnTo>
                  <a:pt x="3363" y="401874"/>
                </a:lnTo>
                <a:lnTo>
                  <a:pt x="12536" y="415478"/>
                </a:lnTo>
                <a:lnTo>
                  <a:pt x="26140" y="424651"/>
                </a:lnTo>
                <a:lnTo>
                  <a:pt x="42799" y="428015"/>
                </a:lnTo>
                <a:lnTo>
                  <a:pt x="428015" y="428015"/>
                </a:lnTo>
                <a:lnTo>
                  <a:pt x="428015" y="0"/>
                </a:lnTo>
                <a:close/>
              </a:path>
            </a:pathLst>
          </a:custGeom>
          <a:solidFill>
            <a:srgbClr val="70A4D8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ssistant"/>
              <a:buNone/>
            </a:pPr>
            <a:r>
              <a:rPr b="0" i="0" lang="iw-IL" sz="12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01</a:t>
            </a:r>
            <a:endParaRPr b="0" i="0" sz="12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9607252" y="3619332"/>
            <a:ext cx="1948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השקפה מורות מובילות</a:t>
            </a:r>
            <a:endParaRPr b="1" i="0" sz="12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b="0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תוכנית הדגל </a:t>
            </a:r>
            <a:endParaRPr b="1" i="0" sz="12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10782159" y="2895279"/>
            <a:ext cx="76551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Char char="​"/>
            </a:pPr>
            <a:r>
              <a:rPr b="0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מסלול </a:t>
            </a:r>
            <a:endParaRPr b="0" i="0" sz="12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9441759" y="5700061"/>
            <a:ext cx="19822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​"/>
            </a:pPr>
            <a:r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 לפרטים נוספים אודות המסלולים </a:t>
            </a:r>
            <a:r>
              <a:rPr b="1" i="0" lang="iw-IL" sz="1200" u="sng" cap="none" strike="noStrike">
                <a:solidFill>
                  <a:schemeClr val="hlink"/>
                </a:solidFill>
                <a:latin typeface="Assistant"/>
                <a:ea typeface="Assistant"/>
                <a:cs typeface="Assistant"/>
                <a:sym typeface="Assistant"/>
                <a:hlinkClick r:id="rId3"/>
              </a:rPr>
              <a:t>לחצו כאן</a:t>
            </a:r>
            <a:endParaRPr b="1" i="0" sz="1200" u="none" cap="none" strike="noStrike">
              <a:solidFill>
                <a:schemeClr val="accent3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6177229" y="4195483"/>
            <a:ext cx="2697594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48B4B3"/>
                </a:solidFill>
                <a:latin typeface="Assistant"/>
                <a:ea typeface="Assistant"/>
                <a:cs typeface="Assistant"/>
                <a:sym typeface="Assistant"/>
              </a:rPr>
              <a:t>תוכנית שבה כלל המורות 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48B4B3"/>
                </a:solidFill>
                <a:latin typeface="Assistant"/>
                <a:ea typeface="Assistant"/>
                <a:cs typeface="Assistant"/>
                <a:sym typeface="Assistant"/>
              </a:rPr>
              <a:t>שותפות ללמידה צוותית מתמשכת, </a:t>
            </a:r>
            <a:endParaRPr/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rgbClr val="48B4B3"/>
                </a:solidFill>
                <a:latin typeface="Assistant"/>
                <a:ea typeface="Assistant"/>
                <a:cs typeface="Assistant"/>
                <a:sym typeface="Assistant"/>
              </a:rPr>
              <a:t>המחוברת לעשייה היום- יומית ולהובלת שינוי בהתאם ליעדי בית הספר.</a:t>
            </a:r>
            <a:endParaRPr b="0" i="0" sz="1200" u="none" cap="none" strike="noStrike">
              <a:solidFill>
                <a:srgbClr val="48B4B3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8098397" y="3151051"/>
            <a:ext cx="765510" cy="428625"/>
          </a:xfrm>
          <a:custGeom>
            <a:rect b="b" l="l" r="r" t="t"/>
            <a:pathLst>
              <a:path extrusionOk="0" h="428625" w="428625">
                <a:moveTo>
                  <a:pt x="428015" y="0"/>
                </a:moveTo>
                <a:lnTo>
                  <a:pt x="42799" y="0"/>
                </a:lnTo>
                <a:lnTo>
                  <a:pt x="26140" y="3363"/>
                </a:lnTo>
                <a:lnTo>
                  <a:pt x="12536" y="12536"/>
                </a:lnTo>
                <a:lnTo>
                  <a:pt x="3363" y="26140"/>
                </a:lnTo>
                <a:lnTo>
                  <a:pt x="0" y="42799"/>
                </a:lnTo>
                <a:lnTo>
                  <a:pt x="0" y="385216"/>
                </a:lnTo>
                <a:lnTo>
                  <a:pt x="3363" y="401874"/>
                </a:lnTo>
                <a:lnTo>
                  <a:pt x="12536" y="415478"/>
                </a:lnTo>
                <a:lnTo>
                  <a:pt x="26140" y="424651"/>
                </a:lnTo>
                <a:lnTo>
                  <a:pt x="42799" y="428015"/>
                </a:lnTo>
                <a:lnTo>
                  <a:pt x="428015" y="428015"/>
                </a:lnTo>
                <a:lnTo>
                  <a:pt x="428015" y="0"/>
                </a:lnTo>
                <a:close/>
              </a:path>
            </a:pathLst>
          </a:custGeom>
          <a:solidFill>
            <a:srgbClr val="48B4B3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ssistant"/>
              <a:buNone/>
            </a:pPr>
            <a:r>
              <a:rPr b="0" i="0" lang="iw-IL" sz="12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02</a:t>
            </a:r>
            <a:endParaRPr b="0" i="0" sz="12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6698659" y="3621477"/>
            <a:ext cx="218451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מהלך השקפה בית ספרי </a:t>
            </a:r>
            <a:endParaRPr b="0" i="0" sz="12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מודל גמיש להטמעת למידה צוותית כתרבות ארגונית</a:t>
            </a:r>
            <a:endParaRPr b="0" i="0" sz="12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8126604" y="2895279"/>
            <a:ext cx="76551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Char char="​"/>
            </a:pPr>
            <a:r>
              <a:rPr b="0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מסלול </a:t>
            </a:r>
            <a:endParaRPr b="0" i="0" sz="12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6698659" y="5697683"/>
            <a:ext cx="16022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איך המהלך פועל במחוז? </a:t>
            </a:r>
            <a:endParaRPr/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לצפייה </a:t>
            </a:r>
            <a:r>
              <a:rPr b="1" i="0" lang="iw-IL" sz="1200" u="sng" cap="none" strike="noStrike">
                <a:solidFill>
                  <a:schemeClr val="hlink"/>
                </a:solidFill>
                <a:latin typeface="Assistant"/>
                <a:ea typeface="Assistant"/>
                <a:cs typeface="Assistant"/>
                <a:sym typeface="Assistant"/>
                <a:hlinkClick r:id="rId4"/>
              </a:rPr>
              <a:t>לחצו כאן </a:t>
            </a:r>
            <a:endParaRPr b="1" i="0" sz="1200" u="none" cap="none" strike="noStrike">
              <a:solidFill>
                <a:schemeClr val="accent3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30" name="Google Shape;30;p3"/>
          <p:cNvGrpSpPr/>
          <p:nvPr/>
        </p:nvGrpSpPr>
        <p:grpSpPr>
          <a:xfrm>
            <a:off x="3245051" y="2895279"/>
            <a:ext cx="2676060" cy="1923690"/>
            <a:chOff x="2988314" y="1514157"/>
            <a:chExt cx="2676060" cy="1923690"/>
          </a:xfrm>
        </p:grpSpPr>
        <p:sp>
          <p:nvSpPr>
            <p:cNvPr id="31" name="Google Shape;31;p3"/>
            <p:cNvSpPr txBox="1"/>
            <p:nvPr/>
          </p:nvSpPr>
          <p:spPr>
            <a:xfrm>
              <a:off x="3120287" y="2630374"/>
              <a:ext cx="2519463" cy="5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w-IL" sz="1200" u="none" cap="none" strike="noStrike">
                  <a:solidFill>
                    <a:srgbClr val="2B6874"/>
                  </a:solidFill>
                  <a:latin typeface="Assistant"/>
                  <a:ea typeface="Assistant"/>
                  <a:cs typeface="Assistant"/>
                  <a:sym typeface="Assistant"/>
                </a:rPr>
                <a:t>ביסוס החוסן המקצועי של המורים בקהילות לשיפור הישגי התלמידים בתחום האורינות הלשונית. </a:t>
              </a:r>
              <a:endParaRPr b="0" i="0" sz="1200" u="none" cap="none" strike="noStrike">
                <a:solidFill>
                  <a:srgbClr val="2B6874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2" name="Google Shape;32;p3"/>
            <p:cNvSpPr txBox="1"/>
            <p:nvPr/>
          </p:nvSpPr>
          <p:spPr>
            <a:xfrm>
              <a:off x="3222298" y="3253181"/>
              <a:ext cx="2422985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4863004" y="1781854"/>
              <a:ext cx="765510" cy="428625"/>
            </a:xfrm>
            <a:custGeom>
              <a:rect b="b" l="l" r="r" t="t"/>
              <a:pathLst>
                <a:path extrusionOk="0" h="428625" w="428625">
                  <a:moveTo>
                    <a:pt x="428015" y="0"/>
                  </a:moveTo>
                  <a:lnTo>
                    <a:pt x="42799" y="0"/>
                  </a:lnTo>
                  <a:lnTo>
                    <a:pt x="26140" y="3363"/>
                  </a:lnTo>
                  <a:lnTo>
                    <a:pt x="12536" y="12536"/>
                  </a:lnTo>
                  <a:lnTo>
                    <a:pt x="3363" y="26140"/>
                  </a:lnTo>
                  <a:lnTo>
                    <a:pt x="0" y="42799"/>
                  </a:lnTo>
                  <a:lnTo>
                    <a:pt x="0" y="385216"/>
                  </a:lnTo>
                  <a:lnTo>
                    <a:pt x="3363" y="401874"/>
                  </a:lnTo>
                  <a:lnTo>
                    <a:pt x="12536" y="415478"/>
                  </a:lnTo>
                  <a:lnTo>
                    <a:pt x="26140" y="424651"/>
                  </a:lnTo>
                  <a:lnTo>
                    <a:pt x="42799" y="428015"/>
                  </a:lnTo>
                  <a:lnTo>
                    <a:pt x="428015" y="428015"/>
                  </a:lnTo>
                  <a:lnTo>
                    <a:pt x="428015" y="0"/>
                  </a:lnTo>
                  <a:close/>
                </a:path>
              </a:pathLst>
            </a:custGeom>
            <a:solidFill>
              <a:srgbClr val="2B6874"/>
            </a:solidFill>
            <a:ln>
              <a:noFill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ssistant"/>
                <a:buNone/>
              </a:pPr>
              <a:r>
                <a:rPr b="0" i="0" lang="iw-IL" sz="1200" u="none" cap="none" strike="noStrike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03</a:t>
              </a:r>
              <a:endParaRPr b="0" i="0" sz="12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4" name="Google Shape;34;p3"/>
            <p:cNvSpPr txBox="1"/>
            <p:nvPr/>
          </p:nvSpPr>
          <p:spPr>
            <a:xfrm>
              <a:off x="4898864" y="1514157"/>
              <a:ext cx="7655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Quattrocento Sans"/>
                <a:buChar char="​"/>
              </a:pPr>
              <a:r>
                <a:rPr b="0" i="0" lang="iw-IL" sz="12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מסלול </a:t>
              </a:r>
              <a:endParaRPr b="0" i="0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5" name="Google Shape;35;p3"/>
            <p:cNvSpPr txBox="1"/>
            <p:nvPr/>
          </p:nvSpPr>
          <p:spPr>
            <a:xfrm>
              <a:off x="2988314" y="2235863"/>
              <a:ext cx="26491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iw-IL" sz="12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השקפה ממוקדת שפה* </a:t>
              </a:r>
              <a:br>
                <a:rPr b="1" i="0" lang="iw-IL" sz="12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</a:br>
              <a:r>
                <a:rPr b="0" i="0" lang="iw-IL" sz="12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תוכנית ייחודית לבתי הספר היסודיים </a:t>
              </a:r>
              <a:endParaRPr b="1" i="0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36" name="Google Shape;36;p3"/>
          <p:cNvSpPr txBox="1"/>
          <p:nvPr/>
        </p:nvSpPr>
        <p:spPr>
          <a:xfrm>
            <a:off x="3723702" y="5697683"/>
            <a:ext cx="210485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צרו קשר עם </a:t>
            </a:r>
            <a:endParaRPr b="1" i="0" sz="12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המדריכה המחוזית </a:t>
            </a:r>
            <a:endParaRPr b="1" i="0" sz="12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נורית אבידן שרביט nuritavidav100@gmail.com</a:t>
            </a:r>
            <a:endParaRPr b="1" i="0" sz="12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37" name="Google Shape;37;p3"/>
          <p:cNvGrpSpPr/>
          <p:nvPr/>
        </p:nvGrpSpPr>
        <p:grpSpPr>
          <a:xfrm>
            <a:off x="510833" y="2895279"/>
            <a:ext cx="2373367" cy="1892313"/>
            <a:chOff x="305425" y="1514157"/>
            <a:chExt cx="2373367" cy="1892313"/>
          </a:xfrm>
        </p:grpSpPr>
        <p:sp>
          <p:nvSpPr>
            <p:cNvPr id="38" name="Google Shape;38;p3"/>
            <p:cNvSpPr txBox="1"/>
            <p:nvPr/>
          </p:nvSpPr>
          <p:spPr>
            <a:xfrm>
              <a:off x="415120" y="2627617"/>
              <a:ext cx="2263672" cy="5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w-IL" sz="1200" u="none" cap="none" strike="noStrike">
                  <a:solidFill>
                    <a:srgbClr val="EA9916"/>
                  </a:solidFill>
                  <a:latin typeface="Assistant"/>
                  <a:ea typeface="Assistant"/>
                  <a:cs typeface="Assistant"/>
                  <a:sym typeface="Assistant"/>
                </a:rPr>
                <a:t>הגברת המסוגלות של צוותי חינוך להכללה וליצירת מרחב אמפתי בקהילות חוקרות. </a:t>
              </a:r>
              <a:endParaRPr b="0" i="0" sz="1200" u="none" cap="none" strike="noStrike">
                <a:solidFill>
                  <a:srgbClr val="EA9916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9" name="Google Shape;39;p3"/>
            <p:cNvSpPr txBox="1"/>
            <p:nvPr/>
          </p:nvSpPr>
          <p:spPr>
            <a:xfrm>
              <a:off x="415120" y="3221804"/>
              <a:ext cx="2263672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888687" y="1781854"/>
              <a:ext cx="765510" cy="428625"/>
            </a:xfrm>
            <a:custGeom>
              <a:rect b="b" l="l" r="r" t="t"/>
              <a:pathLst>
                <a:path extrusionOk="0" h="428625" w="428625">
                  <a:moveTo>
                    <a:pt x="428015" y="0"/>
                  </a:moveTo>
                  <a:lnTo>
                    <a:pt x="42799" y="0"/>
                  </a:lnTo>
                  <a:lnTo>
                    <a:pt x="26140" y="3363"/>
                  </a:lnTo>
                  <a:lnTo>
                    <a:pt x="12536" y="12536"/>
                  </a:lnTo>
                  <a:lnTo>
                    <a:pt x="3363" y="26140"/>
                  </a:lnTo>
                  <a:lnTo>
                    <a:pt x="0" y="42799"/>
                  </a:lnTo>
                  <a:lnTo>
                    <a:pt x="0" y="385216"/>
                  </a:lnTo>
                  <a:lnTo>
                    <a:pt x="3363" y="401874"/>
                  </a:lnTo>
                  <a:lnTo>
                    <a:pt x="12536" y="415478"/>
                  </a:lnTo>
                  <a:lnTo>
                    <a:pt x="26140" y="424651"/>
                  </a:lnTo>
                  <a:lnTo>
                    <a:pt x="42799" y="428015"/>
                  </a:lnTo>
                  <a:lnTo>
                    <a:pt x="428015" y="428015"/>
                  </a:lnTo>
                  <a:lnTo>
                    <a:pt x="428015" y="0"/>
                  </a:lnTo>
                  <a:close/>
                </a:path>
              </a:pathLst>
            </a:custGeom>
            <a:solidFill>
              <a:srgbClr val="EA9916"/>
            </a:solidFill>
            <a:ln>
              <a:noFill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Assistant"/>
                <a:buNone/>
              </a:pPr>
              <a:r>
                <a:rPr b="0" i="0" lang="iw-IL" sz="1200" u="none" cap="none" strike="noStrike">
                  <a:solidFill>
                    <a:schemeClr val="lt1"/>
                  </a:solidFill>
                  <a:latin typeface="Assistant"/>
                  <a:ea typeface="Assistant"/>
                  <a:cs typeface="Assistant"/>
                  <a:sym typeface="Assistant"/>
                </a:rPr>
                <a:t>04</a:t>
              </a:r>
              <a:endParaRPr b="0" i="0" sz="12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1" name="Google Shape;41;p3"/>
            <p:cNvSpPr txBox="1"/>
            <p:nvPr/>
          </p:nvSpPr>
          <p:spPr>
            <a:xfrm>
              <a:off x="1888687" y="1514157"/>
              <a:ext cx="7655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Quattrocento Sans"/>
                <a:buChar char="​"/>
              </a:pPr>
              <a:r>
                <a:rPr b="0" i="0" lang="iw-IL" sz="12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מסלול </a:t>
              </a:r>
              <a:endParaRPr b="0" i="0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2" name="Google Shape;42;p3"/>
            <p:cNvSpPr txBox="1"/>
            <p:nvPr/>
          </p:nvSpPr>
          <p:spPr>
            <a:xfrm>
              <a:off x="305425" y="2235863"/>
              <a:ext cx="23487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iw-IL" sz="12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השקפה מכילים את המכילים</a:t>
              </a:r>
              <a:br>
                <a:rPr b="1" i="0" lang="iw-IL" sz="12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</a:br>
              <a:r>
                <a:rPr b="0" i="0" lang="iw-IL" sz="12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תוכנית לחינוך מכליל </a:t>
              </a:r>
              <a:endParaRPr b="1" i="0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sp>
        <p:nvSpPr>
          <p:cNvPr id="43" name="Google Shape;43;p3"/>
          <p:cNvSpPr txBox="1"/>
          <p:nvPr/>
        </p:nvSpPr>
        <p:spPr>
          <a:xfrm>
            <a:off x="1323163" y="5696416"/>
            <a:ext cx="1484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​"/>
            </a:pPr>
            <a:r>
              <a:rPr b="1" i="0" lang="iw-IL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   להרשמה במערכת   הגפ"ן </a:t>
            </a:r>
            <a:r>
              <a:rPr b="1" i="0" lang="iw-IL" sz="1200" u="sng" cap="none" strike="noStrike">
                <a:solidFill>
                  <a:schemeClr val="hlink"/>
                </a:solidFill>
                <a:latin typeface="Assistant"/>
                <a:ea typeface="Assistant"/>
                <a:cs typeface="Assistant"/>
                <a:sym typeface="Assistant"/>
                <a:hlinkClick r:id="rId5"/>
              </a:rPr>
              <a:t>לחצו כאן</a:t>
            </a:r>
            <a:endParaRPr b="1" i="0" sz="1200" u="none" cap="none" strike="noStrike">
              <a:solidFill>
                <a:schemeClr val="accent3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cxnSp>
        <p:nvCxnSpPr>
          <p:cNvPr id="44" name="Google Shape;44;p3"/>
          <p:cNvCxnSpPr/>
          <p:nvPr/>
        </p:nvCxnSpPr>
        <p:spPr>
          <a:xfrm>
            <a:off x="9002283" y="2752165"/>
            <a:ext cx="0" cy="218198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" name="Google Shape;45;p3"/>
          <p:cNvCxnSpPr/>
          <p:nvPr/>
        </p:nvCxnSpPr>
        <p:spPr>
          <a:xfrm flipH="1">
            <a:off x="5962127" y="2752165"/>
            <a:ext cx="5672" cy="20668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" name="Google Shape;46;p3"/>
          <p:cNvCxnSpPr/>
          <p:nvPr/>
        </p:nvCxnSpPr>
        <p:spPr>
          <a:xfrm>
            <a:off x="2991881" y="2752165"/>
            <a:ext cx="2488" cy="19744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7" name="Google Shape;47;p3"/>
          <p:cNvGrpSpPr/>
          <p:nvPr/>
        </p:nvGrpSpPr>
        <p:grpSpPr>
          <a:xfrm>
            <a:off x="4897925" y="199175"/>
            <a:ext cx="5756956" cy="438875"/>
            <a:chOff x="6876801" y="195076"/>
            <a:chExt cx="4801677" cy="438875"/>
          </a:xfrm>
        </p:grpSpPr>
        <p:sp>
          <p:nvSpPr>
            <p:cNvPr id="48" name="Google Shape;48;p3"/>
            <p:cNvSpPr/>
            <p:nvPr/>
          </p:nvSpPr>
          <p:spPr>
            <a:xfrm>
              <a:off x="6876801" y="195076"/>
              <a:ext cx="4801677" cy="323751"/>
            </a:xfrm>
            <a:custGeom>
              <a:rect b="b" l="l" r="r" t="t"/>
              <a:pathLst>
                <a:path extrusionOk="0" h="323751" w="4801677">
                  <a:moveTo>
                    <a:pt x="0" y="0"/>
                  </a:moveTo>
                  <a:lnTo>
                    <a:pt x="4707667" y="0"/>
                  </a:lnTo>
                  <a:cubicBezTo>
                    <a:pt x="4759587" y="0"/>
                    <a:pt x="4801677" y="42090"/>
                    <a:pt x="4801677" y="94010"/>
                  </a:cubicBezTo>
                  <a:lnTo>
                    <a:pt x="4801677" y="323751"/>
                  </a:lnTo>
                  <a:lnTo>
                    <a:pt x="0" y="323751"/>
                  </a:lnTo>
                  <a:close/>
                </a:path>
              </a:pathLst>
            </a:custGeom>
            <a:solidFill>
              <a:srgbClr val="DEECF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3"/>
            <p:cNvSpPr txBox="1"/>
            <p:nvPr/>
          </p:nvSpPr>
          <p:spPr>
            <a:xfrm>
              <a:off x="7116142" y="233841"/>
              <a:ext cx="428928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w-IL" sz="1400" u="none" cap="none" strike="noStrike">
                  <a:solidFill>
                    <a:schemeClr val="dk1"/>
                  </a:solidFill>
                  <a:latin typeface="Assistant"/>
                  <a:ea typeface="Assistant"/>
                  <a:cs typeface="Assistant"/>
                  <a:sym typeface="Assistant"/>
                </a:rPr>
                <a:t>מהלך השקפה בסל גפ"ן |מחוז מנח"י | מאי 26 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1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p3"/>
          <p:cNvSpPr txBox="1"/>
          <p:nvPr>
            <p:ph type="title"/>
          </p:nvPr>
        </p:nvSpPr>
        <p:spPr>
          <a:xfrm>
            <a:off x="751723" y="2492639"/>
            <a:ext cx="10861744" cy="200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1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0A4D8"/>
              </a:buClr>
              <a:buSzPts val="2800"/>
              <a:buFont typeface="Assistant"/>
              <a:buNone/>
            </a:pPr>
            <a:r>
              <a:rPr lang="iw-IL" sz="1400"/>
              <a:t>מהלך השקפה מציע לך השנה ארבעה מסלולים שונים</a:t>
            </a:r>
            <a:endParaRPr/>
          </a:p>
        </p:txBody>
      </p:sp>
      <p:sp>
        <p:nvSpPr>
          <p:cNvPr id="51" name="Google Shape;51;p3"/>
          <p:cNvSpPr txBox="1"/>
          <p:nvPr/>
        </p:nvSpPr>
        <p:spPr>
          <a:xfrm>
            <a:off x="3324600" y="637956"/>
            <a:ext cx="733651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ssistant"/>
              <a:buNone/>
            </a:pPr>
            <a:r>
              <a:rPr b="1" i="0" lang="iw-IL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מהלך השקפה </a:t>
            </a:r>
            <a:r>
              <a:rPr b="0" i="0" lang="iw-IL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הוא מהלך ארצי מקיף לשיפור </a:t>
            </a:r>
            <a:r>
              <a:rPr b="1" i="0" lang="iw-IL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איכות ההוראה והלמידה</a:t>
            </a:r>
            <a:r>
              <a:rPr b="0" i="0" lang="iw-IL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ssistant"/>
              <a:buNone/>
            </a:pPr>
            <a:r>
              <a:rPr b="0" i="0" lang="iw-IL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באמצעות יצירת </a:t>
            </a:r>
            <a:r>
              <a:rPr b="1" i="0" lang="iw-IL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תרבות למידה </a:t>
            </a:r>
            <a:r>
              <a:rPr b="0" i="0" lang="iw-IL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מיטבית של מורות החוקרות את </a:t>
            </a:r>
            <a:r>
              <a:rPr b="1" i="0" lang="iw-IL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פרקטיקות ההוראה</a:t>
            </a:r>
            <a:r>
              <a:rPr b="0" i="0" lang="iw-IL" sz="14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 שלהן.</a:t>
            </a:r>
            <a:endParaRPr b="0" i="0" sz="1400" u="none" cap="none" strike="noStrik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52" name="Google Shape;52;p3"/>
          <p:cNvGrpSpPr/>
          <p:nvPr/>
        </p:nvGrpSpPr>
        <p:grpSpPr>
          <a:xfrm>
            <a:off x="9277397" y="1928626"/>
            <a:ext cx="397032" cy="403379"/>
            <a:chOff x="7510476" y="1638465"/>
            <a:chExt cx="961359" cy="961358"/>
          </a:xfrm>
        </p:grpSpPr>
        <p:sp>
          <p:nvSpPr>
            <p:cNvPr id="53" name="Google Shape;53;p3"/>
            <p:cNvSpPr/>
            <p:nvPr/>
          </p:nvSpPr>
          <p:spPr>
            <a:xfrm>
              <a:off x="7510476" y="1638465"/>
              <a:ext cx="961359" cy="961358"/>
            </a:xfrm>
            <a:prstGeom prst="ellipse">
              <a:avLst/>
            </a:prstGeom>
            <a:solidFill>
              <a:srgbClr val="70A4D8"/>
            </a:solidFill>
            <a:ln>
              <a:noFill/>
            </a:ln>
          </p:spPr>
          <p:txBody>
            <a:bodyPr anchorCtr="0" anchor="ctr" bIns="44800" lIns="89600" spcFirstLastPara="1" rIns="89600" wrap="square" tIns="44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4" name="Google Shape;54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92428" y="1820416"/>
              <a:ext cx="597456" cy="5974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" name="Google Shape;55;p3"/>
          <p:cNvSpPr txBox="1"/>
          <p:nvPr/>
        </p:nvSpPr>
        <p:spPr>
          <a:xfrm>
            <a:off x="7279341" y="1609733"/>
            <a:ext cx="4330985" cy="200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0A4D8"/>
              </a:buClr>
              <a:buSzPts val="2800"/>
              <a:buFont typeface="Assistant"/>
              <a:buNone/>
            </a:pPr>
            <a:r>
              <a:rPr b="1" i="0" lang="iw-IL" sz="1400" u="none" cap="none" strike="noStrike">
                <a:solidFill>
                  <a:srgbClr val="70A4D8"/>
                </a:solidFill>
                <a:latin typeface="Assistant"/>
                <a:ea typeface="Assistant"/>
                <a:cs typeface="Assistant"/>
                <a:sym typeface="Assistant"/>
              </a:rPr>
              <a:t>למה קהילות השקפה הן הדרך הטובה ביותר לפיתוח מקצועי?</a:t>
            </a:r>
            <a:endParaRPr b="1" i="0" sz="1400" u="none" cap="none" strike="noStrike">
              <a:solidFill>
                <a:srgbClr val="70A4D8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9881740" y="1962919"/>
            <a:ext cx="11022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התאמה למטרות בית הספר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" name="Google Shape;57;p3"/>
          <p:cNvGrpSpPr/>
          <p:nvPr/>
        </p:nvGrpSpPr>
        <p:grpSpPr>
          <a:xfrm>
            <a:off x="11059127" y="1921501"/>
            <a:ext cx="397032" cy="403379"/>
            <a:chOff x="10444069" y="1638464"/>
            <a:chExt cx="961359" cy="961359"/>
          </a:xfrm>
        </p:grpSpPr>
        <p:sp>
          <p:nvSpPr>
            <p:cNvPr id="58" name="Google Shape;58;p3"/>
            <p:cNvSpPr/>
            <p:nvPr/>
          </p:nvSpPr>
          <p:spPr>
            <a:xfrm>
              <a:off x="10444069" y="1638464"/>
              <a:ext cx="961359" cy="961359"/>
            </a:xfrm>
            <a:prstGeom prst="ellipse">
              <a:avLst/>
            </a:prstGeom>
            <a:solidFill>
              <a:srgbClr val="70A4D8"/>
            </a:solidFill>
            <a:ln>
              <a:noFill/>
            </a:ln>
          </p:spPr>
          <p:txBody>
            <a:bodyPr anchorCtr="0" anchor="ctr" bIns="44800" lIns="89600" spcFirstLastPara="1" rIns="89600" wrap="square" tIns="44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" name="Google Shape;59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626021" y="1820415"/>
              <a:ext cx="597456" cy="5974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3"/>
          <p:cNvSpPr txBox="1"/>
          <p:nvPr/>
        </p:nvSpPr>
        <p:spPr>
          <a:xfrm>
            <a:off x="8424767" y="1973227"/>
            <a:ext cx="6972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הטמעת תובנות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6532096" y="1973227"/>
            <a:ext cx="10694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שיפור טכניקות הוראה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p3"/>
          <p:cNvGrpSpPr/>
          <p:nvPr/>
        </p:nvGrpSpPr>
        <p:grpSpPr>
          <a:xfrm>
            <a:off x="7673826" y="1939180"/>
            <a:ext cx="397032" cy="403379"/>
            <a:chOff x="5152344" y="1638464"/>
            <a:chExt cx="961359" cy="961359"/>
          </a:xfrm>
        </p:grpSpPr>
        <p:sp>
          <p:nvSpPr>
            <p:cNvPr id="63" name="Google Shape;63;p3"/>
            <p:cNvSpPr/>
            <p:nvPr/>
          </p:nvSpPr>
          <p:spPr>
            <a:xfrm>
              <a:off x="5152344" y="1638464"/>
              <a:ext cx="961359" cy="961359"/>
            </a:xfrm>
            <a:prstGeom prst="ellipse">
              <a:avLst/>
            </a:prstGeom>
            <a:solidFill>
              <a:srgbClr val="70A4D8"/>
            </a:solidFill>
            <a:ln>
              <a:noFill/>
            </a:ln>
          </p:spPr>
          <p:txBody>
            <a:bodyPr anchorCtr="0" anchor="ctr" bIns="44800" lIns="89600" spcFirstLastPara="1" rIns="89600" wrap="square" tIns="44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4" name="Google Shape;64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334295" y="1820415"/>
              <a:ext cx="597456" cy="5974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5" name="Google Shape;65;p3"/>
          <p:cNvSpPr txBox="1"/>
          <p:nvPr/>
        </p:nvSpPr>
        <p:spPr>
          <a:xfrm>
            <a:off x="4507349" y="1973643"/>
            <a:ext cx="13212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1200" u="none" cap="none" strike="noStrike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הזדמנות להתבוננות רפלקטיבית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3"/>
          <p:cNvGrpSpPr/>
          <p:nvPr/>
        </p:nvGrpSpPr>
        <p:grpSpPr>
          <a:xfrm>
            <a:off x="6090612" y="1918561"/>
            <a:ext cx="397032" cy="403379"/>
            <a:chOff x="2482303" y="1638464"/>
            <a:chExt cx="961359" cy="961359"/>
          </a:xfrm>
        </p:grpSpPr>
        <p:sp>
          <p:nvSpPr>
            <p:cNvPr id="67" name="Google Shape;67;p3"/>
            <p:cNvSpPr/>
            <p:nvPr/>
          </p:nvSpPr>
          <p:spPr>
            <a:xfrm>
              <a:off x="2482303" y="1638464"/>
              <a:ext cx="961359" cy="961359"/>
            </a:xfrm>
            <a:prstGeom prst="ellipse">
              <a:avLst/>
            </a:prstGeom>
            <a:solidFill>
              <a:srgbClr val="70A4D8"/>
            </a:solidFill>
            <a:ln>
              <a:noFill/>
            </a:ln>
          </p:spPr>
          <p:txBody>
            <a:bodyPr anchorCtr="0" anchor="ctr" bIns="44800" lIns="89600" spcFirstLastPara="1" rIns="89600" wrap="square" tIns="44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8" name="Google Shape;68;p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664254" y="1820415"/>
              <a:ext cx="597456" cy="59745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תמונה שמכילה סרט מצויר, עיצוב גרפי, גרפיקה, אומנות&#10;&#10;תוכן שנוצר על-ידי בינה מלאכותית עשוי להיות שגוי." id="69" name="Google Shape;69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96274" y="247939"/>
            <a:ext cx="926630" cy="967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3"/>
          <p:cNvCxnSpPr/>
          <p:nvPr/>
        </p:nvCxnSpPr>
        <p:spPr>
          <a:xfrm>
            <a:off x="519040" y="5449342"/>
            <a:ext cx="11036835" cy="0"/>
          </a:xfrm>
          <a:prstGeom prst="straightConnector1">
            <a:avLst/>
          </a:prstGeom>
          <a:noFill/>
          <a:ln cap="flat" cmpd="sng" w="9525">
            <a:solidFill>
              <a:srgbClr val="021C7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1" name="Google Shape;71;p3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 b="33711" l="22859" r="22859" t="33712"/>
          <a:stretch/>
        </p:blipFill>
        <p:spPr>
          <a:xfrm>
            <a:off x="8278867" y="5677943"/>
            <a:ext cx="613247" cy="228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>
            <a:hlinkClick r:id="rId13"/>
          </p:cNvPr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416656" y="5705574"/>
            <a:ext cx="282402" cy="286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138222" y="5727011"/>
            <a:ext cx="285740" cy="296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עיגול, סימן&#10;&#10;תוכן שנוצר על-ידי בינה מלאכותית עשוי להיות שגוי." id="74" name="Google Shape;74;p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938172" y="311551"/>
            <a:ext cx="604890" cy="624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עיצוב&#10;&#10;תוכן שנוצר על-ידי בינה מלאכותית עשוי להיות שגוי." id="75" name="Google Shape;75;p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543062" y="296019"/>
            <a:ext cx="911508" cy="580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0D0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BCBCBC"/>
      </a:accent6>
      <a:hlink>
        <a:srgbClr val="90909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